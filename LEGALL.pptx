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04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644D9C8-1535-4195-99AC-AFDBD0E938E6}" v="65" dt="2026-02-12T02:09:22.94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401710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Member 1 introduces the topic and importance of cyber law in modern India.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Explain digital expansion and rising cyber complaints. Give example of OTP fraud case.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Explain importance of IT Act 2000 and why amendments are needed.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Give real-life example like fake bank call asking OTP.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Explain that strict punishment exists but awareness is low.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Explain that law alone is not enough; awareness and reporting are essential.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Conclude confidently. Link topic with PESE and interview importance.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Team thanks audience.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347" y="1122363"/>
            <a:ext cx="7773308" cy="2387600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347" y="3602038"/>
            <a:ext cx="7773308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9062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54442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1933" y="657227"/>
            <a:ext cx="7300134" cy="2852737"/>
          </a:xfrm>
        </p:spPr>
        <p:txBody>
          <a:bodyPr anchor="b">
            <a:normAutofit/>
          </a:bodyPr>
          <a:lstStyle>
            <a:lvl1pPr>
              <a:defRPr sz="3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21933" y="3602039"/>
            <a:ext cx="7300134" cy="1500187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03003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7" y="609601"/>
            <a:ext cx="7765321" cy="132632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346" y="2088320"/>
            <a:ext cx="3829503" cy="37028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30052" y="2088320"/>
            <a:ext cx="3820616" cy="37028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19946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7" y="609601"/>
            <a:ext cx="7765321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5427" y="2088320"/>
            <a:ext cx="3600326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346" y="2912232"/>
            <a:ext cx="3830406" cy="28789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59230" y="2088320"/>
            <a:ext cx="3591437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912232"/>
            <a:ext cx="3821518" cy="28789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08039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69135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19762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7921" y="609600"/>
            <a:ext cx="2949178" cy="2362200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08548" y="609600"/>
            <a:ext cx="4642119" cy="5181600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7921" y="2971801"/>
            <a:ext cx="2949178" cy="2819399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76038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7921" y="609600"/>
            <a:ext cx="4167603" cy="2362200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249932" y="758881"/>
            <a:ext cx="2966938" cy="4883038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6" y="2971800"/>
            <a:ext cx="4171242" cy="28194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80250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55" y="4289373"/>
            <a:ext cx="7775673" cy="819355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5355" y="621322"/>
            <a:ext cx="7775673" cy="3379735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6" y="5108728"/>
            <a:ext cx="7774499" cy="682472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98347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6" y="609601"/>
            <a:ext cx="7765322" cy="3424859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7" y="4204820"/>
            <a:ext cx="7765321" cy="159218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24496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4659" y="609600"/>
            <a:ext cx="6977064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290484" y="3610032"/>
            <a:ext cx="6564224" cy="426812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5" y="4204821"/>
            <a:ext cx="7765322" cy="158638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extBox 9"/>
          <p:cNvSpPr txBox="1"/>
          <p:nvPr/>
        </p:nvSpPr>
        <p:spPr>
          <a:xfrm>
            <a:off x="505245" y="641749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46721" y="3073376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6410213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55" y="2126943"/>
            <a:ext cx="7766495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6" y="4650556"/>
            <a:ext cx="7765322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99596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85345" y="609601"/>
            <a:ext cx="7765322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346" y="2088320"/>
            <a:ext cx="2474217" cy="823305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346" y="2911624"/>
            <a:ext cx="2474217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33658" y="2088320"/>
            <a:ext cx="2473919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333659" y="2911624"/>
            <a:ext cx="2474866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79974" y="2088320"/>
            <a:ext cx="2468408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982260" y="2911624"/>
            <a:ext cx="2468408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04292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5346" y="609601"/>
            <a:ext cx="7765322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5347" y="3989147"/>
            <a:ext cx="247421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819015" y="2092235"/>
            <a:ext cx="2205038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5347" y="4565409"/>
            <a:ext cx="2474216" cy="1225792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32026" y="3989147"/>
            <a:ext cx="2474237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426747" y="2092235"/>
            <a:ext cx="2197894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331011" y="4565408"/>
            <a:ext cx="2475252" cy="1225792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80067" y="3989147"/>
            <a:ext cx="2467425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6114603" y="2092235"/>
            <a:ext cx="2199085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979973" y="4565410"/>
            <a:ext cx="2470694" cy="122579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84507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42586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609600"/>
            <a:ext cx="1906993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346" y="609600"/>
            <a:ext cx="5744029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63207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347" y="609601"/>
            <a:ext cx="7765321" cy="13263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346" y="2096064"/>
            <a:ext cx="7765322" cy="36951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759052" y="5883276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346" y="5883276"/>
            <a:ext cx="500464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885509" y="5883276"/>
            <a:ext cx="56515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085076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05" r:id="rId1"/>
    <p:sldLayoutId id="2147483806" r:id="rId2"/>
    <p:sldLayoutId id="2147483807" r:id="rId3"/>
    <p:sldLayoutId id="2147483808" r:id="rId4"/>
    <p:sldLayoutId id="2147483809" r:id="rId5"/>
    <p:sldLayoutId id="2147483810" r:id="rId6"/>
    <p:sldLayoutId id="2147483811" r:id="rId7"/>
    <p:sldLayoutId id="2147483812" r:id="rId8"/>
    <p:sldLayoutId id="2147483813" r:id="rId9"/>
    <p:sldLayoutId id="2147483814" r:id="rId10"/>
    <p:sldLayoutId id="2147483815" r:id="rId11"/>
    <p:sldLayoutId id="2147483816" r:id="rId12"/>
    <p:sldLayoutId id="2147483817" r:id="rId13"/>
    <p:sldLayoutId id="2147483818" r:id="rId14"/>
    <p:sldLayoutId id="2147483819" r:id="rId15"/>
    <p:sldLayoutId id="2147483820" r:id="rId16"/>
    <p:sldLayoutId id="2147483821" r:id="rId17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400" b="1" i="0" kern="1200" cap="all">
          <a:solidFill>
            <a:schemeClr val="tx1"/>
          </a:solidFill>
          <a:effectLst>
            <a:outerShdw blurRad="50800" dist="63500" dir="2700000" algn="tl" rotWithShape="0">
              <a:srgbClr val="000000">
                <a:alpha val="48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internationaljournalofresearch.com/2020/08/07/cyber-crimes-2/" TargetMode="Externa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347" y="1122363"/>
            <a:ext cx="7773308" cy="1026477"/>
          </a:xfrm>
        </p:spPr>
        <p:txBody>
          <a:bodyPr/>
          <a:lstStyle/>
          <a:p>
            <a:r>
              <a:rPr dirty="0"/>
              <a:t>CYBER LAW IN INDIA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347" y="3126550"/>
            <a:ext cx="7773308" cy="1655762"/>
          </a:xfrm>
        </p:spPr>
        <p:txBody>
          <a:bodyPr/>
          <a:lstStyle/>
          <a:p>
            <a:r>
              <a:rPr dirty="0"/>
              <a:t>Real Challenges, Legal Framework &amp; Solutions</a:t>
            </a:r>
          </a:p>
          <a:p>
            <a:r>
              <a:rPr dirty="0"/>
              <a:t>Subject: PESE</a:t>
            </a:r>
          </a:p>
          <a:p>
            <a:r>
              <a:rPr dirty="0"/>
              <a:t>Team Legal (5 Members)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uiExpand="1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Digital India &amp; Cyber Crime Reality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346" y="2096064"/>
            <a:ext cx="4362142" cy="4569912"/>
          </a:xfrm>
        </p:spPr>
        <p:txBody>
          <a:bodyPr>
            <a:normAutofit/>
          </a:bodyPr>
          <a:lstStyle/>
          <a:p>
            <a:r>
              <a:rPr dirty="0"/>
              <a:t>850+ Million Internet Users in India</a:t>
            </a:r>
          </a:p>
          <a:p>
            <a:pPr lvl="1" algn="just"/>
            <a:r>
              <a:rPr dirty="0"/>
              <a:t>Massive Growth in UPI &amp; Online Banking</a:t>
            </a:r>
          </a:p>
          <a:p>
            <a:pPr lvl="1"/>
            <a:r>
              <a:rPr dirty="0"/>
              <a:t>Over 1.5 Million Cyber Crime Complaints (Recent Years)</a:t>
            </a:r>
          </a:p>
          <a:p>
            <a:pPr lvl="1"/>
            <a:r>
              <a:rPr dirty="0"/>
              <a:t>Most Common: Phishing &amp; OTP Fraud</a:t>
            </a:r>
          </a:p>
          <a:p>
            <a:pPr lvl="1"/>
            <a:r>
              <a:rPr dirty="0"/>
              <a:t>Problem: Digital growth faster than awareness</a:t>
            </a:r>
          </a:p>
          <a:p>
            <a:pPr lvl="1"/>
            <a:r>
              <a:rPr dirty="0"/>
              <a:t>Solution: Strong Cyber Law + Public Awareness</a:t>
            </a:r>
          </a:p>
        </p:txBody>
      </p:sp>
      <p:pic>
        <p:nvPicPr>
          <p:cNvPr id="4" name="Picture 3" descr="cyber_crime_growt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84648" y="2651760"/>
            <a:ext cx="3657600" cy="27432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Legal Framework – IT Act, 2000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345" y="2470968"/>
            <a:ext cx="7765322" cy="3052008"/>
          </a:xfrm>
        </p:spPr>
        <p:txBody>
          <a:bodyPr/>
          <a:lstStyle/>
          <a:p>
            <a:r>
              <a:rPr dirty="0"/>
              <a:t>Main Law: Information Technology Act, 2000</a:t>
            </a:r>
          </a:p>
          <a:p>
            <a:pPr lvl="1" algn="just"/>
            <a:r>
              <a:rPr dirty="0"/>
              <a:t>Amended in 2008 for modern cyber crimes</a:t>
            </a:r>
          </a:p>
          <a:p>
            <a:pPr lvl="1"/>
            <a:r>
              <a:rPr dirty="0"/>
              <a:t>Legal recognition to digital signatures &amp; e-records</a:t>
            </a:r>
          </a:p>
          <a:p>
            <a:pPr lvl="1"/>
            <a:r>
              <a:rPr dirty="0"/>
              <a:t>Section 75: Applies even outside India</a:t>
            </a:r>
          </a:p>
          <a:p>
            <a:pPr lvl="1"/>
            <a:r>
              <a:rPr dirty="0"/>
              <a:t>Problem: Technology evolving rapidly</a:t>
            </a:r>
          </a:p>
          <a:p>
            <a:pPr lvl="1"/>
            <a:r>
              <a:rPr dirty="0"/>
              <a:t>Solution: Continuous amendments &amp; enforcement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Major Cyber Crimes in India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346" y="2096064"/>
            <a:ext cx="4609030" cy="3695136"/>
          </a:xfrm>
        </p:spPr>
        <p:txBody>
          <a:bodyPr/>
          <a:lstStyle/>
          <a:p>
            <a:r>
              <a:rPr dirty="0"/>
              <a:t>Phishing &amp; Bank OTP Fraud</a:t>
            </a:r>
          </a:p>
          <a:p>
            <a:pPr lvl="1"/>
            <a:r>
              <a:rPr dirty="0"/>
              <a:t>UPI &amp; Online Payment Scams</a:t>
            </a:r>
          </a:p>
          <a:p>
            <a:pPr lvl="1" algn="just"/>
            <a:r>
              <a:rPr dirty="0"/>
              <a:t>Identity Theft (Section 66C)</a:t>
            </a:r>
          </a:p>
          <a:p>
            <a:pPr lvl="1"/>
            <a:r>
              <a:rPr dirty="0"/>
              <a:t>Cyber Bullying &amp; Harassment</a:t>
            </a:r>
          </a:p>
          <a:p>
            <a:pPr lvl="1"/>
            <a:r>
              <a:rPr dirty="0"/>
              <a:t>Ransomware Attacks</a:t>
            </a:r>
            <a:endParaRPr lang="en-US" dirty="0"/>
          </a:p>
          <a:p>
            <a:pPr lvl="1"/>
            <a:r>
              <a:rPr dirty="0"/>
              <a:t>Solution: Awareness + Two-Factor Authentication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C2AAAC6-FF63-EBCB-E572-A72C21280C9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5558980" y="2498040"/>
            <a:ext cx="3055000" cy="216252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Important Sections of IT 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Section 43 – Damage to Computer Systems</a:t>
            </a:r>
          </a:p>
          <a:p>
            <a:pPr lvl="1"/>
            <a:r>
              <a:rPr dirty="0"/>
              <a:t>Section 66 – Computer Related Offences</a:t>
            </a:r>
          </a:p>
          <a:p>
            <a:pPr lvl="1" algn="just"/>
            <a:r>
              <a:rPr dirty="0"/>
              <a:t>Section 66C – Identity Theft</a:t>
            </a:r>
          </a:p>
          <a:p>
            <a:pPr lvl="1"/>
            <a:r>
              <a:rPr dirty="0"/>
              <a:t>Section 66D – Online Cheating</a:t>
            </a:r>
          </a:p>
          <a:p>
            <a:pPr lvl="1"/>
            <a:r>
              <a:rPr dirty="0"/>
              <a:t>Section 67 – Obscene Content Online</a:t>
            </a:r>
          </a:p>
          <a:p>
            <a:pPr lvl="1"/>
            <a:r>
              <a:rPr dirty="0"/>
              <a:t>Punishment: Fine + 3 to 7 Years Imprisonment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Problems &amp; Practical Solutions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Problem: Low Public Awareness</a:t>
            </a:r>
          </a:p>
          <a:p>
            <a:pPr lvl="1"/>
            <a:r>
              <a:rPr dirty="0"/>
              <a:t>Solution: Digital Education &amp; Awareness Programs</a:t>
            </a:r>
          </a:p>
          <a:p>
            <a:pPr lvl="1"/>
            <a:r>
              <a:rPr dirty="0"/>
              <a:t>Problem: Data Theft &amp; Privacy Issues</a:t>
            </a:r>
          </a:p>
          <a:p>
            <a:pPr lvl="1"/>
            <a:r>
              <a:rPr dirty="0"/>
              <a:t>Solution: Encryption &amp; Cyber Security Tools</a:t>
            </a:r>
          </a:p>
          <a:p>
            <a:pPr lvl="1" algn="just"/>
            <a:r>
              <a:rPr dirty="0"/>
              <a:t>Problem: Underreporting of Crimes</a:t>
            </a:r>
          </a:p>
          <a:p>
            <a:pPr lvl="1"/>
            <a:r>
              <a:rPr dirty="0"/>
              <a:t>Solution: National Cyber Crime Portal Reporting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Cyber Law &amp; PESE (Employability Skills)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Promotes Ethical Digital Behavior</a:t>
            </a:r>
          </a:p>
          <a:p>
            <a:pPr lvl="1" algn="just"/>
            <a:r>
              <a:rPr dirty="0"/>
              <a:t>Important for Corporate Professionals</a:t>
            </a:r>
          </a:p>
          <a:p>
            <a:pPr lvl="1"/>
            <a:r>
              <a:rPr dirty="0"/>
              <a:t>Useful Knowledge in Job Interviews</a:t>
            </a:r>
          </a:p>
          <a:p>
            <a:pPr lvl="1"/>
            <a:r>
              <a:rPr dirty="0"/>
              <a:t>Builds Responsible Digital Citizenship</a:t>
            </a:r>
          </a:p>
          <a:p>
            <a:pPr lvl="1"/>
            <a:r>
              <a:rPr dirty="0"/>
              <a:t>Strong Closing: Cyber Law is a Digital Responsibility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7643" y="1935922"/>
            <a:ext cx="7765321" cy="1326321"/>
          </a:xfrm>
        </p:spPr>
        <p:txBody>
          <a:bodyPr>
            <a:normAutofit/>
          </a:bodyPr>
          <a:lstStyle/>
          <a:p>
            <a:r>
              <a:rPr sz="7200" dirty="0"/>
              <a:t>Thank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90088" y="3543942"/>
            <a:ext cx="4271860" cy="752856"/>
          </a:xfrm>
        </p:spPr>
        <p:txBody>
          <a:bodyPr>
            <a:normAutofit fontScale="92500" lnSpcReduction="10000"/>
          </a:bodyPr>
          <a:lstStyle/>
          <a:p>
            <a:r>
              <a:rPr dirty="0"/>
              <a:t>Thank You for Listening</a:t>
            </a:r>
          </a:p>
          <a:p>
            <a:pPr lvl="1"/>
            <a:r>
              <a:rPr dirty="0"/>
              <a:t>Any Questions?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Damask">
  <a:themeElements>
    <a:clrScheme name="Damask">
      <a:dk1>
        <a:sysClr val="windowText" lastClr="000000"/>
      </a:dk1>
      <a:lt1>
        <a:sysClr val="window" lastClr="FFFFFF"/>
      </a:lt1>
      <a:dk2>
        <a:srgbClr val="78346F"/>
      </a:dk2>
      <a:lt2>
        <a:srgbClr val="D9A8D2"/>
      </a:lt2>
      <a:accent1>
        <a:srgbClr val="CE57AB"/>
      </a:accent1>
      <a:accent2>
        <a:srgbClr val="8E8EFD"/>
      </a:accent2>
      <a:accent3>
        <a:srgbClr val="7CBCE0"/>
      </a:accent3>
      <a:accent4>
        <a:srgbClr val="70BF9F"/>
      </a:accent4>
      <a:accent5>
        <a:srgbClr val="A5B960"/>
      </a:accent5>
      <a:accent6>
        <a:srgbClr val="D47A57"/>
      </a:accent6>
      <a:hlink>
        <a:srgbClr val="D164DE"/>
      </a:hlink>
      <a:folHlink>
        <a:srgbClr val="BE87C4"/>
      </a:folHlink>
    </a:clrScheme>
    <a:fontScheme name="Damask">
      <a:majorFont>
        <a:latin typeface="Bookman Old Style" panose="02050604050505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ckwell" panose="020606030202050204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amask">
      <a:fillStyleLst>
        <a:solidFill>
          <a:schemeClr val="phClr"/>
        </a:solidFill>
        <a:gradFill rotWithShape="1">
          <a:gsLst>
            <a:gs pos="0">
              <a:schemeClr val="phClr">
                <a:tint val="48000"/>
                <a:satMod val="105000"/>
                <a:lumMod val="110000"/>
              </a:schemeClr>
            </a:gs>
            <a:gs pos="100000">
              <a:schemeClr val="phClr">
                <a:tint val="78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0000"/>
                <a:lumMod val="104000"/>
              </a:schemeClr>
            </a:gs>
            <a:gs pos="69000">
              <a:schemeClr val="phClr">
                <a:shade val="86000"/>
                <a:satMod val="130000"/>
                <a:lumMod val="102000"/>
              </a:schemeClr>
            </a:gs>
            <a:gs pos="100000">
              <a:schemeClr val="phClr">
                <a:shade val="72000"/>
                <a:satMod val="130000"/>
                <a:lumMod val="100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sy="96000" rotWithShape="0">
              <a:srgbClr val="000000">
                <a:alpha val="54000"/>
              </a:srgbClr>
            </a:outerShdw>
          </a:effectLst>
        </a:effectStyle>
        <a:effectStyle>
          <a:effectLst>
            <a:outerShdw blurRad="76200" dist="38100" dir="5400000" algn="ctr" rotWithShape="0">
              <a:srgbClr val="000000">
                <a:alpha val="76000"/>
              </a:srgbClr>
            </a:outerShdw>
          </a:effectLst>
          <a:scene3d>
            <a:camera prst="orthographicFront">
              <a:rot lat="0" lon="0" rev="0"/>
            </a:camera>
            <a:lightRig rig="balanced" dir="t"/>
          </a:scene3d>
          <a:sp3d prstMaterial="matte">
            <a:bevelT w="25400" h="25400" prst="relaxedInse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shade val="18000"/>
                <a:satMod val="160000"/>
                <a:lumMod val="28000"/>
              </a:schemeClr>
              <a:schemeClr val="phClr">
                <a:tint val="95000"/>
                <a:satMod val="160000"/>
                <a:lumMod val="116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mask" id="{F9A299A0-33D0-4E0F-9F3F-7163E3744208}" vid="{D4FE1632-F131-47D3-A814-99E9CD025E2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Damask</Template>
  <TotalTime>14</TotalTime>
  <Words>370</Words>
  <Application>Microsoft Office PowerPoint</Application>
  <PresentationFormat>On-screen Show (4:3)</PresentationFormat>
  <Paragraphs>56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Bookman Old Style</vt:lpstr>
      <vt:lpstr>Rockwell</vt:lpstr>
      <vt:lpstr>Damask</vt:lpstr>
      <vt:lpstr>CYBER LAW IN INDIA</vt:lpstr>
      <vt:lpstr>Digital India &amp; Cyber Crime Reality</vt:lpstr>
      <vt:lpstr>Legal Framework – IT Act, 2000</vt:lpstr>
      <vt:lpstr>Major Cyber Crimes in India</vt:lpstr>
      <vt:lpstr>Important Sections of IT Act</vt:lpstr>
      <vt:lpstr>Problems &amp; Practical Solutions</vt:lpstr>
      <vt:lpstr>Cyber Law &amp; PESE (Employability Skills)</vt:lpstr>
      <vt:lpstr>Thank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KaraNxD</dc:creator>
  <cp:keywords/>
  <dc:description>generated using python-pptx</dc:description>
  <cp:lastModifiedBy>PARITOSH KUMAR</cp:lastModifiedBy>
  <cp:revision>2</cp:revision>
  <dcterms:created xsi:type="dcterms:W3CDTF">2013-01-27T09:14:16Z</dcterms:created>
  <dcterms:modified xsi:type="dcterms:W3CDTF">2026-05-01T16:29:18Z</dcterms:modified>
  <cp:category/>
</cp:coreProperties>
</file>